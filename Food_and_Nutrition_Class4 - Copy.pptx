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76980" y="280220"/>
            <a:ext cx="12368980" cy="24629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400" b="1">
                <a:solidFill>
                  <a:srgbClr val="92400E"/>
                </a:solidFill>
                <a:latin typeface="Comic Sans MS"/>
              </a:defRPr>
            </a:pPr>
            <a:r>
              <a:rPr dirty="0"/>
              <a:t>🍎 Food and Nutrition 🥦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0362895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A16207"/>
                </a:solidFill>
                <a:latin typeface="Comic Sans MS"/>
              </a:defRPr>
            </a:pPr>
            <a:r>
              <a:rPr dirty="0"/>
              <a:t>Let's learn how food helps us grow strong and healthy!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92400E"/>
                </a:solidFill>
                <a:latin typeface="Comic Sans MS"/>
              </a:defRPr>
            </a:pPr>
            <a:r>
              <a:rPr dirty="0"/>
              <a:t>For Class </a:t>
            </a:r>
            <a:r>
              <a:rPr lang="en-US" dirty="0"/>
              <a:t>4</a:t>
            </a:r>
            <a:r>
              <a:rPr dirty="0"/>
              <a:t> Super Stars! ⭐</a:t>
            </a:r>
          </a:p>
        </p:txBody>
      </p:sp>
      <p:sp>
        <p:nvSpPr>
          <p:cNvPr id="5" name="Rectangle 4"/>
          <p:cNvSpPr/>
          <p:nvPr/>
        </p:nvSpPr>
        <p:spPr>
          <a:xfrm>
            <a:off x="-1327356" y="4754880"/>
            <a:ext cx="14689394" cy="15485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0">
                <a:solidFill>
                  <a:srgbClr val="333333"/>
                </a:solidFill>
                <a:latin typeface="Comic Sans MS"/>
              </a:defRPr>
            </a:pPr>
            <a:r>
              <a:rPr sz="6600" dirty="0"/>
              <a:t>🍎🥦🍞🥛🍚🥕🍊🥚🐟🧀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5039"/>
            <a:ext cx="11277295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600" b="1">
                <a:solidFill>
                  <a:srgbClr val="1E40AF"/>
                </a:solidFill>
                <a:latin typeface="Comic Sans MS"/>
              </a:defRPr>
            </a:pPr>
            <a:r>
              <a:rPr dirty="0"/>
              <a:t>Why Do We Need Food? 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06708"/>
            <a:ext cx="475488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333333"/>
                </a:solidFill>
                <a:latin typeface="Comic Sans MS"/>
              </a:defRPr>
            </a:pPr>
            <a:r>
              <a:rPr sz="3600"/>
              <a:t>⚡  Energy to Play!</a:t>
            </a:r>
          </a:p>
          <a:p>
            <a:pPr algn="ctr">
              <a:defRPr sz="1800">
                <a:solidFill>
                  <a:srgbClr val="555555"/>
                </a:solidFill>
                <a:latin typeface="Comic Sans MS"/>
              </a:defRPr>
            </a:pPr>
            <a:r>
              <a:rPr sz="2800"/>
              <a:t>Run, jump, and have fun!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417320"/>
            <a:ext cx="475488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333333"/>
                </a:solidFill>
                <a:latin typeface="Comic Sans MS"/>
              </a:defRPr>
            </a:pPr>
            <a:r>
              <a:rPr sz="3600" dirty="0"/>
              <a:t>📏  Grow Tall!</a:t>
            </a:r>
          </a:p>
          <a:p>
            <a:pPr algn="ctr">
              <a:defRPr sz="1800">
                <a:solidFill>
                  <a:srgbClr val="555555"/>
                </a:solidFill>
                <a:latin typeface="Comic Sans MS"/>
              </a:defRPr>
            </a:pPr>
            <a:r>
              <a:rPr sz="2800" dirty="0"/>
              <a:t>Build strong bones and muscles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92997"/>
            <a:ext cx="475488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333333"/>
                </a:solidFill>
                <a:latin typeface="Comic Sans MS"/>
              </a:defRPr>
            </a:pPr>
            <a:r>
              <a:rPr sz="3600" dirty="0"/>
              <a:t>🛡️  Stay Healthy!</a:t>
            </a:r>
          </a:p>
          <a:p>
            <a:pPr algn="ctr">
              <a:defRPr sz="1800">
                <a:solidFill>
                  <a:srgbClr val="555555"/>
                </a:solidFill>
                <a:latin typeface="Comic Sans MS"/>
              </a:defRPr>
            </a:pPr>
            <a:r>
              <a:rPr sz="2800" dirty="0"/>
              <a:t>Fight germs and sickness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707746"/>
            <a:ext cx="475488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333333"/>
                </a:solidFill>
                <a:latin typeface="Comic Sans MS"/>
              </a:defRPr>
            </a:pPr>
            <a:r>
              <a:rPr sz="3600" dirty="0"/>
              <a:t>🧠  </a:t>
            </a:r>
            <a:r>
              <a:rPr sz="4000" dirty="0"/>
              <a:t>Think</a:t>
            </a:r>
            <a:r>
              <a:rPr sz="3600" dirty="0"/>
              <a:t> Better!</a:t>
            </a:r>
          </a:p>
          <a:p>
            <a:pPr algn="ctr">
              <a:defRPr sz="1800">
                <a:solidFill>
                  <a:srgbClr val="555555"/>
                </a:solidFill>
                <a:latin typeface="Comic Sans MS"/>
              </a:defRPr>
            </a:pPr>
            <a:r>
              <a:rPr sz="2800" dirty="0"/>
              <a:t>Learn new things at school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6035040"/>
            <a:ext cx="9448495" cy="64008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E40AF"/>
                </a:solidFill>
                <a:latin typeface="Comic Sans MS"/>
              </a:defRPr>
            </a:pPr>
            <a:r>
              <a:t>💡 Fun Fact: Just like a car needs petrol to run, our body needs food to work!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600" b="1">
                <a:solidFill>
                  <a:srgbClr val="166534"/>
                </a:solidFill>
                <a:latin typeface="Comic Sans MS"/>
              </a:defRPr>
            </a:pPr>
            <a:r>
              <a:t>Where Does Food Come From? 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2956" y="1645920"/>
            <a:ext cx="4572000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166534"/>
                </a:solidFill>
                <a:latin typeface="Comic Sans MS"/>
              </a:defRPr>
            </a:pPr>
            <a:r>
              <a:rPr sz="4000" dirty="0"/>
              <a:t>🌾🍎🥕 Plants</a:t>
            </a:r>
          </a:p>
          <a:p>
            <a:pPr algn="ctr">
              <a:defRPr sz="2000">
                <a:solidFill>
                  <a:srgbClr val="166534"/>
                </a:solidFill>
                <a:latin typeface="Comic Sans MS"/>
              </a:defRPr>
            </a:pPr>
            <a:r>
              <a:rPr sz="2800" dirty="0"/>
              <a:t>Fruits, vegetables, grains, nuts, and seeds come from plants and trees!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4572000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991B1B"/>
                </a:solidFill>
                <a:latin typeface="Comic Sans MS"/>
              </a:defRPr>
            </a:pPr>
            <a:r>
              <a:rPr sz="4000" dirty="0"/>
              <a:t>🐄🥚🐟 Animals</a:t>
            </a:r>
          </a:p>
          <a:p>
            <a:pPr algn="ctr">
              <a:defRPr sz="2000">
                <a:solidFill>
                  <a:srgbClr val="991B1B"/>
                </a:solidFill>
                <a:latin typeface="Comic Sans MS"/>
              </a:defRPr>
            </a:pPr>
            <a:endParaRPr lang="en-US" sz="2800" dirty="0"/>
          </a:p>
          <a:p>
            <a:pPr algn="ctr">
              <a:defRPr sz="2000">
                <a:solidFill>
                  <a:srgbClr val="991B1B"/>
                </a:solidFill>
                <a:latin typeface="Comic Sans MS"/>
              </a:defRPr>
            </a:pPr>
            <a:r>
              <a:rPr sz="2800" dirty="0"/>
              <a:t>Milk, eggs, meat, and fish come from animals!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08560"/>
            <a:ext cx="10574594" cy="1483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166534"/>
                </a:solidFill>
                <a:latin typeface="Comic Sans MS"/>
              </a:defRPr>
            </a:pPr>
            <a:r>
              <a:rPr sz="5400" dirty="0"/>
              <a:t>🌞 + 💧 + 🌱 = 🍎</a:t>
            </a:r>
          </a:p>
          <a:p>
            <a:pPr algn="ctr">
              <a:defRPr sz="2000" b="1">
                <a:solidFill>
                  <a:srgbClr val="166534"/>
                </a:solidFill>
                <a:latin typeface="Comic Sans MS"/>
              </a:defRPr>
            </a:pPr>
            <a:r>
              <a:rPr sz="3600" dirty="0"/>
              <a:t>Sun + Water + Soil = Yummy Food!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0"/>
            <a:ext cx="11277295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600" b="1">
                <a:solidFill>
                  <a:srgbClr val="6B21A8"/>
                </a:solidFill>
                <a:latin typeface="Comic Sans MS"/>
              </a:defRPr>
            </a:pPr>
            <a:r>
              <a:rPr dirty="0"/>
              <a:t>Three Super Food Groups! 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78770"/>
            <a:ext cx="10362895" cy="1679995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7E22CE"/>
                </a:solidFill>
                <a:latin typeface="Comic Sans MS"/>
              </a:defRPr>
            </a:pPr>
            <a:r>
              <a:rPr sz="2000" dirty="0"/>
              <a:t>💪  </a:t>
            </a:r>
            <a:r>
              <a:rPr sz="2800" dirty="0"/>
              <a:t>Body-Building Foods</a:t>
            </a:r>
          </a:p>
          <a:p>
            <a:pPr>
              <a:defRPr sz="1600">
                <a:solidFill>
                  <a:srgbClr val="555555"/>
                </a:solidFill>
                <a:latin typeface="Comic Sans MS"/>
              </a:defRPr>
            </a:pPr>
            <a:r>
              <a:rPr dirty="0"/>
              <a:t>These foods have PROTEIN. They help us grow tall and make our muscles strong!</a:t>
            </a:r>
          </a:p>
          <a:p>
            <a:pPr>
              <a:defRPr sz="1500" b="1">
                <a:solidFill>
                  <a:srgbClr val="7E22CE"/>
                </a:solidFill>
                <a:latin typeface="Comic Sans MS"/>
              </a:defRPr>
            </a:pPr>
            <a:r>
              <a:rPr sz="1600" dirty="0"/>
              <a:t>Examples: Milk, Eggs, Fish, Beans, Meat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020471"/>
            <a:ext cx="10362895" cy="1713763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A16207"/>
                </a:solidFill>
                <a:latin typeface="Comic Sans MS"/>
              </a:defRPr>
            </a:pPr>
            <a:r>
              <a:rPr sz="2800" dirty="0"/>
              <a:t>⚡  Energy-Giving Foods</a:t>
            </a:r>
          </a:p>
          <a:p>
            <a:pPr>
              <a:defRPr sz="1600">
                <a:solidFill>
                  <a:srgbClr val="555555"/>
                </a:solidFill>
                <a:latin typeface="Comic Sans MS"/>
              </a:defRPr>
            </a:pPr>
            <a:r>
              <a:rPr dirty="0"/>
              <a:t>These foods have CARBOHYDRATES and FATS. They give us power to run and play!</a:t>
            </a:r>
          </a:p>
          <a:p>
            <a:pPr>
              <a:defRPr sz="1500" b="1">
                <a:solidFill>
                  <a:srgbClr val="A16207"/>
                </a:solidFill>
                <a:latin typeface="Comic Sans MS"/>
              </a:defRPr>
            </a:pPr>
            <a:r>
              <a:rPr sz="1600" dirty="0"/>
              <a:t>Examples: Rice, Bread, Potato, Butter, Nuts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029200"/>
            <a:ext cx="10362895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66534"/>
                </a:solidFill>
                <a:latin typeface="Comic Sans MS"/>
              </a:defRPr>
            </a:pPr>
            <a:r>
              <a:rPr sz="2800" dirty="0"/>
              <a:t>🛡️  Body-Protecting Foods</a:t>
            </a:r>
          </a:p>
          <a:p>
            <a:pPr>
              <a:defRPr sz="1600">
                <a:solidFill>
                  <a:srgbClr val="555555"/>
                </a:solidFill>
                <a:latin typeface="Comic Sans MS"/>
              </a:defRPr>
            </a:pPr>
            <a:r>
              <a:rPr dirty="0"/>
              <a:t>These foods have VITAMINS and MINERALS. They keep us from getting sick!</a:t>
            </a:r>
          </a:p>
          <a:p>
            <a:pPr>
              <a:defRPr sz="1500" b="1">
                <a:solidFill>
                  <a:srgbClr val="166534"/>
                </a:solidFill>
                <a:latin typeface="Comic Sans MS"/>
              </a:defRPr>
            </a:pPr>
            <a:r>
              <a:rPr sz="1600" dirty="0"/>
              <a:t>Examples: Fruits, Vegetables, Water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600" b="1">
                <a:solidFill>
                  <a:srgbClr val="991B1B"/>
                </a:solidFill>
                <a:latin typeface="Comic Sans MS"/>
              </a:defRPr>
            </a:pPr>
            <a:r>
              <a:t>Body-Building Foods 💪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B91C1C"/>
                </a:solidFill>
                <a:latin typeface="Comic Sans MS"/>
              </a:defRPr>
            </a:pPr>
            <a:r>
              <a:t>These foods help you grow big and strong!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201168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🥛</a:t>
            </a:r>
          </a:p>
          <a:p>
            <a:pPr algn="ctr">
              <a:defRPr sz="2000" b="1">
                <a:solidFill>
                  <a:srgbClr val="991B1B"/>
                </a:solidFill>
                <a:latin typeface="Comic Sans MS"/>
              </a:defRPr>
            </a:pPr>
            <a:r>
              <a:t>Milk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01168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🥚</a:t>
            </a:r>
          </a:p>
          <a:p>
            <a:pPr algn="ctr">
              <a:defRPr sz="2000" b="1">
                <a:solidFill>
                  <a:srgbClr val="991B1B"/>
                </a:solidFill>
                <a:latin typeface="Comic Sans MS"/>
              </a:defRPr>
            </a:pPr>
            <a:r>
              <a:t>Eggs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🐟</a:t>
            </a:r>
          </a:p>
          <a:p>
            <a:pPr algn="ctr">
              <a:defRPr sz="2000" b="1">
                <a:solidFill>
                  <a:srgbClr val="991B1B"/>
                </a:solidFill>
                <a:latin typeface="Comic Sans MS"/>
              </a:defRPr>
            </a:pPr>
            <a:r>
              <a:t>Fish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02336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🫘</a:t>
            </a:r>
          </a:p>
          <a:p>
            <a:pPr algn="ctr">
              <a:defRPr sz="2000" b="1">
                <a:solidFill>
                  <a:srgbClr val="991B1B"/>
                </a:solidFill>
                <a:latin typeface="Comic Sans MS"/>
              </a:defRPr>
            </a:pPr>
            <a:r>
              <a:t>Beans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02336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🧀</a:t>
            </a:r>
          </a:p>
          <a:p>
            <a:pPr algn="ctr">
              <a:defRPr sz="2000" b="1">
                <a:solidFill>
                  <a:srgbClr val="991B1B"/>
                </a:solidFill>
                <a:latin typeface="Comic Sans MS"/>
              </a:defRPr>
            </a:pPr>
            <a:r>
              <a:t>Cheese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02336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🍗</a:t>
            </a:r>
          </a:p>
          <a:p>
            <a:pPr algn="ctr">
              <a:defRPr sz="2000" b="1">
                <a:solidFill>
                  <a:srgbClr val="991B1B"/>
                </a:solidFill>
                <a:latin typeface="Comic Sans MS"/>
              </a:defRPr>
            </a:pPr>
            <a:r>
              <a:t>Chicken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943600"/>
            <a:ext cx="9448495" cy="64008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991B1B"/>
                </a:solidFill>
                <a:latin typeface="Comic Sans MS"/>
              </a:defRPr>
            </a:pPr>
            <a:r>
              <a:t>💪 Super Power: Protein repairs your body when you get a cut or bruise!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600" b="1">
                <a:solidFill>
                  <a:srgbClr val="854D0E"/>
                </a:solidFill>
                <a:latin typeface="Comic Sans MS"/>
              </a:defRPr>
            </a:pPr>
            <a:r>
              <a:t>Energy-Giving Foods ⚡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A16207"/>
                </a:solidFill>
                <a:latin typeface="Comic Sans MS"/>
              </a:defRPr>
            </a:pPr>
            <a:r>
              <a:t>These foods give you power to play all day!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201168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🍚</a:t>
            </a:r>
          </a:p>
          <a:p>
            <a:pPr algn="ctr">
              <a:defRPr sz="2000" b="1">
                <a:solidFill>
                  <a:srgbClr val="854D0E"/>
                </a:solidFill>
                <a:latin typeface="Comic Sans MS"/>
              </a:defRPr>
            </a:pPr>
            <a:r>
              <a:t>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01168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🍞</a:t>
            </a:r>
          </a:p>
          <a:p>
            <a:pPr algn="ctr">
              <a:defRPr sz="2000" b="1">
                <a:solidFill>
                  <a:srgbClr val="854D0E"/>
                </a:solidFill>
                <a:latin typeface="Comic Sans MS"/>
              </a:defRPr>
            </a:pPr>
            <a:r>
              <a:t>Bread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🍠</a:t>
            </a:r>
          </a:p>
          <a:p>
            <a:pPr algn="ctr">
              <a:defRPr sz="2000" b="1">
                <a:solidFill>
                  <a:srgbClr val="854D0E"/>
                </a:solidFill>
                <a:latin typeface="Comic Sans MS"/>
              </a:defRPr>
            </a:pPr>
            <a:r>
              <a:t>Potato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02336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🧈</a:t>
            </a:r>
          </a:p>
          <a:p>
            <a:pPr algn="ctr">
              <a:defRPr sz="2000" b="1">
                <a:solidFill>
                  <a:srgbClr val="854D0E"/>
                </a:solidFill>
                <a:latin typeface="Comic Sans MS"/>
              </a:defRPr>
            </a:pPr>
            <a:r>
              <a:t>Butter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02336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🍯</a:t>
            </a:r>
          </a:p>
          <a:p>
            <a:pPr algn="ctr">
              <a:defRPr sz="2000" b="1">
                <a:solidFill>
                  <a:srgbClr val="854D0E"/>
                </a:solidFill>
                <a:latin typeface="Comic Sans MS"/>
              </a:defRPr>
            </a:pPr>
            <a:r>
              <a:t>Honey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02336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🌽</a:t>
            </a:r>
          </a:p>
          <a:p>
            <a:pPr algn="ctr">
              <a:defRPr sz="2000" b="1">
                <a:solidFill>
                  <a:srgbClr val="854D0E"/>
                </a:solidFill>
                <a:latin typeface="Comic Sans MS"/>
              </a:defRPr>
            </a:pPr>
            <a:r>
              <a:t>Corn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943600"/>
            <a:ext cx="9448495" cy="640080"/>
          </a:xfrm>
          <a:prstGeom prst="roundRect">
            <a:avLst/>
          </a:prstGeom>
          <a:solidFill>
            <a:srgbClr val="FEFCE8"/>
          </a:solidFill>
          <a:ln w="381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854D0E"/>
                </a:solidFill>
                <a:latin typeface="Comic Sans MS"/>
              </a:defRPr>
            </a:pPr>
            <a:r>
              <a:t>⚡ Super Power: Without these foods, you would feel tired and sleepy in class!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600" b="1">
                <a:solidFill>
                  <a:srgbClr val="166534"/>
                </a:solidFill>
                <a:latin typeface="Comic Sans MS"/>
              </a:defRPr>
            </a:pPr>
            <a:r>
              <a:t>Body-Protecting Foods 🛡️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5803D"/>
                </a:solidFill>
                <a:latin typeface="Comic Sans MS"/>
              </a:defRPr>
            </a:pPr>
            <a:r>
              <a:t>These foods keep you healthy and strong!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201168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🍎</a:t>
            </a:r>
          </a:p>
          <a:p>
            <a:pPr algn="ctr">
              <a:defRPr sz="2000" b="1">
                <a:solidFill>
                  <a:srgbClr val="166534"/>
                </a:solidFill>
                <a:latin typeface="Comic Sans MS"/>
              </a:defRPr>
            </a:pPr>
            <a:r>
              <a:t>Apples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01168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🥕</a:t>
            </a:r>
          </a:p>
          <a:p>
            <a:pPr algn="ctr">
              <a:defRPr sz="2000" b="1">
                <a:solidFill>
                  <a:srgbClr val="166534"/>
                </a:solidFill>
                <a:latin typeface="Comic Sans MS"/>
              </a:defRPr>
            </a:pPr>
            <a:r>
              <a:t>Carrots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🍊</a:t>
            </a:r>
          </a:p>
          <a:p>
            <a:pPr algn="ctr">
              <a:defRPr sz="2000" b="1">
                <a:solidFill>
                  <a:srgbClr val="166534"/>
                </a:solidFill>
                <a:latin typeface="Comic Sans MS"/>
              </a:defRPr>
            </a:pPr>
            <a:r>
              <a:t>Oranges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02336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rPr sz="5400"/>
              <a:t>🥬</a:t>
            </a:r>
          </a:p>
          <a:p>
            <a:pPr algn="ctr">
              <a:defRPr sz="2000" b="1">
                <a:solidFill>
                  <a:srgbClr val="166534"/>
                </a:solidFill>
                <a:latin typeface="Comic Sans MS"/>
              </a:defRPr>
            </a:pPr>
            <a:r>
              <a:rPr sz="2400"/>
              <a:t>Spinach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02336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🍇</a:t>
            </a:r>
          </a:p>
          <a:p>
            <a:pPr algn="ctr">
              <a:defRPr sz="2000" b="1">
                <a:solidFill>
                  <a:srgbClr val="166534"/>
                </a:solidFill>
                <a:latin typeface="Comic Sans MS"/>
              </a:defRPr>
            </a:pPr>
            <a:r>
              <a:t>Grapes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023360"/>
            <a:ext cx="25603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/>
            </a:pPr>
            <a:r>
              <a:t>💧</a:t>
            </a:r>
          </a:p>
          <a:p>
            <a:pPr algn="ctr">
              <a:defRPr sz="2000" b="1">
                <a:solidFill>
                  <a:srgbClr val="166534"/>
                </a:solidFill>
                <a:latin typeface="Comic Sans MS"/>
              </a:defRPr>
            </a:pPr>
            <a:r>
              <a:t>Water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943600"/>
            <a:ext cx="9448495" cy="640080"/>
          </a:xfrm>
          <a:prstGeom prst="roundRect">
            <a:avLst/>
          </a:prstGeom>
          <a:solidFill>
            <a:srgbClr val="F0FDF4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6534"/>
                </a:solidFill>
                <a:latin typeface="Comic Sans MS"/>
              </a:defRPr>
            </a:pPr>
            <a:r>
              <a:t>🛡️ Super Power: Vitamin C in oranges helps you fight cold and fever!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347"/>
            <a:ext cx="11277295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600" b="1">
                <a:solidFill>
                  <a:srgbClr val="9F1239"/>
                </a:solidFill>
                <a:latin typeface="Comic Sans MS"/>
              </a:defRPr>
            </a:pPr>
            <a:r>
              <a:rPr dirty="0"/>
              <a:t>What is a Balanced Diet? 🍽️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BE123C"/>
                </a:solidFill>
                <a:latin typeface="Comic Sans MS"/>
              </a:defRPr>
            </a:pPr>
            <a:r>
              <a:rPr dirty="0"/>
              <a:t>Eating a little bit of everything!</a:t>
            </a:r>
            <a:r>
              <a:rPr lang="en-US" dirty="0"/>
              <a:t> </a:t>
            </a:r>
          </a:p>
          <a:p>
            <a:pPr algn="ctr">
              <a:defRPr sz="2200" b="1">
                <a:solidFill>
                  <a:srgbClr val="BE123C"/>
                </a:solidFill>
                <a:latin typeface="Comic Sans MS"/>
              </a:defRPr>
            </a:pPr>
            <a:r>
              <a:rPr lang="en-US" dirty="0"/>
              <a:t>Definition: The balance diet means eating right amount of food.</a:t>
            </a:r>
          </a:p>
          <a:p>
            <a:pPr algn="ctr">
              <a:defRPr sz="2200" b="1">
                <a:solidFill>
                  <a:srgbClr val="BE123C"/>
                </a:solidFill>
                <a:latin typeface="Comic Sans MS"/>
              </a:defRPr>
            </a:pP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3949625" y="2092796"/>
            <a:ext cx="4114800" cy="41148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Oval 4"/>
          <p:cNvSpPr/>
          <p:nvPr/>
        </p:nvSpPr>
        <p:spPr>
          <a:xfrm>
            <a:off x="4846320" y="2563266"/>
            <a:ext cx="1645920" cy="146304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66534"/>
                </a:solidFill>
                <a:latin typeface="Comic Sans MS"/>
              </a:defRPr>
            </a:pPr>
            <a:r>
              <a:rPr sz="1600"/>
              <a:t>🥦</a:t>
            </a:r>
            <a:br>
              <a:rPr sz="1600"/>
            </a:br>
            <a:r>
              <a:rPr sz="1600"/>
              <a:t>Veggies</a:t>
            </a:r>
          </a:p>
        </p:txBody>
      </p:sp>
      <p:sp>
        <p:nvSpPr>
          <p:cNvPr id="6" name="Oval 5"/>
          <p:cNvSpPr/>
          <p:nvPr/>
        </p:nvSpPr>
        <p:spPr>
          <a:xfrm>
            <a:off x="6214976" y="3067664"/>
            <a:ext cx="1188720" cy="11887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92400E"/>
                </a:solidFill>
                <a:latin typeface="Comic Sans MS"/>
              </a:defRPr>
            </a:pPr>
            <a:r>
              <a:rPr sz="1600" dirty="0"/>
              <a:t>🍎</a:t>
            </a:r>
            <a:br>
              <a:rPr sz="1600" dirty="0"/>
            </a:br>
            <a:r>
              <a:rPr sz="1600" dirty="0"/>
              <a:t>Fruits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4135445"/>
            <a:ext cx="1463040" cy="1371600"/>
          </a:xfrm>
          <a:prstGeom prst="ellipse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54D0E"/>
                </a:solidFill>
                <a:latin typeface="Comic Sans MS"/>
              </a:defRPr>
            </a:pPr>
            <a:r>
              <a:rPr sz="1600"/>
              <a:t>🍚</a:t>
            </a:r>
            <a:br>
              <a:rPr sz="1600"/>
            </a:br>
            <a:r>
              <a:rPr sz="1600"/>
              <a:t>Grains</a:t>
            </a:r>
          </a:p>
        </p:txBody>
      </p:sp>
      <p:sp>
        <p:nvSpPr>
          <p:cNvPr id="8" name="Oval 7"/>
          <p:cNvSpPr/>
          <p:nvPr/>
        </p:nvSpPr>
        <p:spPr>
          <a:xfrm>
            <a:off x="5973108" y="4100048"/>
            <a:ext cx="1280160" cy="128016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991B1B"/>
                </a:solidFill>
                <a:latin typeface="Comic Sans MS"/>
              </a:defRPr>
            </a:pPr>
            <a:r>
              <a:rPr sz="1600"/>
              <a:t>🥚</a:t>
            </a:r>
            <a:br>
              <a:rPr sz="1600"/>
            </a:br>
            <a:r>
              <a:rPr sz="1600"/>
              <a:t>Protein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3448170"/>
            <a:ext cx="914400" cy="9144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40AF"/>
                </a:solidFill>
                <a:latin typeface="Comic Sans MS"/>
              </a:defRPr>
            </a:pPr>
            <a:r>
              <a:rPr sz="1600"/>
              <a:t>🥛</a:t>
            </a:r>
            <a:br>
              <a:rPr sz="1600"/>
            </a:br>
            <a:r>
              <a:rPr sz="1600"/>
              <a:t>Milk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035040"/>
            <a:ext cx="1036289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9F1239"/>
                </a:solidFill>
                <a:latin typeface="Comic Sans MS"/>
              </a:defRPr>
            </a:pPr>
            <a:r>
              <a:t>A balanced plate has food from ALL three groups!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6400800"/>
            <a:ext cx="9448495" cy="457200"/>
          </a:xfrm>
          <a:prstGeom prst="roundRect">
            <a:avLst/>
          </a:prstGeom>
          <a:solidFill>
            <a:srgbClr val="FFF1F2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F1239"/>
                </a:solidFill>
                <a:latin typeface="Comic Sans MS"/>
              </a:defRPr>
            </a:pPr>
            <a:r>
              <a:t>🌟 Remember: No single food has everything. That's why we eat many different foods!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-138630"/>
            <a:ext cx="11277295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600" b="1">
                <a:solidFill>
                  <a:srgbClr val="155E75"/>
                </a:solidFill>
                <a:latin typeface="Comic Sans MS"/>
              </a:defRPr>
            </a:pPr>
            <a:r>
              <a:rPr dirty="0"/>
              <a:t>Healthy Eating Habits ✨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96126"/>
            <a:ext cx="1036289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E7490"/>
                </a:solidFill>
                <a:latin typeface="Comic Sans MS"/>
              </a:defRPr>
            </a:pPr>
            <a:r>
              <a:rPr sz="2800" dirty="0"/>
              <a:t>Good habits make healthy kids!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737360"/>
            <a:ext cx="8534095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sz="2800" dirty="0"/>
              <a:t>1. 🧼  Wash your hands before eating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395728"/>
            <a:ext cx="8534095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sz="2800"/>
              <a:t>2. 🍽️  Eat at the same time every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054096"/>
            <a:ext cx="8534095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sz="2800"/>
              <a:t>3. 🥗  Eat fruits and vegetables every meal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712464"/>
            <a:ext cx="8534095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sz="2800"/>
              <a:t>4. 💧  Drink lots of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370831"/>
            <a:ext cx="8534095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sz="2800"/>
              <a:t>5. 🍫  Eat less chips, candy, and soda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029200"/>
            <a:ext cx="8534095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sz="2800"/>
              <a:t>6. 🍳  Eat home-cooked food when you can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687568"/>
            <a:ext cx="8534095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sz="2800"/>
              <a:t>7. 🙏  Never waste food!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600" b="1">
                <a:solidFill>
                  <a:srgbClr val="92400E"/>
                </a:solidFill>
                <a:latin typeface="Comic Sans MS"/>
              </a:defRPr>
            </a:pPr>
            <a:r>
              <a:t>Let's Remember! 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292608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/>
            </a:pPr>
            <a:r>
              <a:rPr sz="4800" dirty="0"/>
              <a:t>💪</a:t>
            </a:r>
          </a:p>
          <a:p>
            <a:pPr algn="ctr">
              <a:defRPr sz="2200" b="1">
                <a:solidFill>
                  <a:srgbClr val="991B1B"/>
                </a:solidFill>
                <a:latin typeface="Comic Sans MS"/>
              </a:defRPr>
            </a:pPr>
            <a:r>
              <a:rPr sz="2800" dirty="0"/>
              <a:t>Grow</a:t>
            </a:r>
          </a:p>
          <a:p>
            <a:pPr algn="ctr">
              <a:defRPr sz="1500">
                <a:solidFill>
                  <a:srgbClr val="64748B"/>
                </a:solidFill>
                <a:latin typeface="Comic Sans MS"/>
              </a:defRPr>
            </a:pPr>
            <a:r>
              <a:rPr dirty="0"/>
              <a:t>Body-building foods help you grow!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645920"/>
            <a:ext cx="292608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EF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/>
            </a:pPr>
            <a:r>
              <a:rPr sz="5400" dirty="0"/>
              <a:t>⚡</a:t>
            </a:r>
          </a:p>
          <a:p>
            <a:pPr algn="ctr">
              <a:defRPr sz="2200" b="1">
                <a:solidFill>
                  <a:srgbClr val="854D0E"/>
                </a:solidFill>
                <a:latin typeface="Comic Sans MS"/>
              </a:defRPr>
            </a:pPr>
            <a:r>
              <a:rPr sz="3200" dirty="0"/>
              <a:t>Play</a:t>
            </a:r>
          </a:p>
          <a:p>
            <a:pPr algn="ctr">
              <a:defRPr sz="1500">
                <a:solidFill>
                  <a:srgbClr val="64748B"/>
                </a:solidFill>
                <a:latin typeface="Comic Sans MS"/>
              </a:defRPr>
            </a:pPr>
            <a:r>
              <a:rPr sz="1600" dirty="0"/>
              <a:t>Energy foods give you power!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645920"/>
            <a:ext cx="292608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/>
            </a:pPr>
            <a:r>
              <a:rPr sz="4400" dirty="0"/>
              <a:t>🛡️</a:t>
            </a:r>
          </a:p>
          <a:p>
            <a:pPr algn="ctr">
              <a:defRPr sz="2200" b="1">
                <a:solidFill>
                  <a:srgbClr val="166534"/>
                </a:solidFill>
                <a:latin typeface="Comic Sans MS"/>
              </a:defRPr>
            </a:pPr>
            <a:r>
              <a:rPr sz="2400" dirty="0"/>
              <a:t>Stay Safe</a:t>
            </a:r>
          </a:p>
          <a:p>
            <a:pPr algn="ctr">
              <a:defRPr sz="1500">
                <a:solidFill>
                  <a:srgbClr val="64748B"/>
                </a:solidFill>
                <a:latin typeface="Comic Sans MS"/>
              </a:defRPr>
            </a:pPr>
            <a:r>
              <a:rPr sz="1600" dirty="0"/>
              <a:t>Protecting foods fight sickness!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206239"/>
            <a:ext cx="6705295" cy="1870095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/>
            </a:pPr>
            <a:r>
              <a:rPr sz="4800" dirty="0"/>
              <a:t>🏆</a:t>
            </a:r>
          </a:p>
          <a:p>
            <a:pPr algn="ctr">
              <a:defRPr sz="2400" b="1">
                <a:solidFill>
                  <a:srgbClr val="92400E"/>
                </a:solidFill>
                <a:latin typeface="Comic Sans MS"/>
              </a:defRPr>
            </a:pPr>
            <a:r>
              <a:rPr sz="3200" dirty="0"/>
              <a:t>You are a Nutrition Champion!</a:t>
            </a:r>
          </a:p>
          <a:p>
            <a:pPr algn="ctr">
              <a:defRPr sz="1600">
                <a:solidFill>
                  <a:srgbClr val="78716C"/>
                </a:solidFill>
                <a:latin typeface="Comic Sans MS"/>
              </a:defRPr>
            </a:pPr>
            <a:r>
              <a:rPr sz="1600" dirty="0"/>
              <a:t>Eat healthy, stay happy, and keep learning! 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852160"/>
            <a:ext cx="1036289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A16207"/>
                </a:solidFill>
                <a:latin typeface="Comic Sans MS"/>
              </a:defRPr>
            </a:pPr>
            <a:r>
              <a:rPr dirty="0"/>
              <a:t>Great job, Class </a:t>
            </a:r>
            <a:r>
              <a:rPr lang="en-US" dirty="0"/>
              <a:t>4</a:t>
            </a:r>
            <a:r>
              <a:rPr dirty="0"/>
              <a:t>! 👏👏👏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2F4F24-13B1-04BF-7603-8FB9AEE68A1E}"/>
              </a:ext>
            </a:extLst>
          </p:cNvPr>
          <p:cNvSpPr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600" b="1">
                <a:solidFill>
                  <a:srgbClr val="92400E"/>
                </a:solidFill>
                <a:latin typeface="Comic Sans MS"/>
              </a:defRPr>
            </a:pPr>
            <a:r>
              <a:rPr lang="en-US" sz="3600" dirty="0"/>
              <a:t>Now ITS TIME TO DO REMAINING WORK</a:t>
            </a:r>
            <a:r>
              <a:rPr sz="3600" dirty="0"/>
              <a:t>! 🌟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A48522-49F1-D9AD-55EE-4D37E9C5D21E}"/>
              </a:ext>
            </a:extLst>
          </p:cNvPr>
          <p:cNvSpPr/>
          <p:nvPr/>
        </p:nvSpPr>
        <p:spPr>
          <a:xfrm>
            <a:off x="796412" y="5692878"/>
            <a:ext cx="1036289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A16207"/>
                </a:solidFill>
                <a:latin typeface="Comic Sans MS"/>
              </a:defRPr>
            </a:pPr>
            <a:r>
              <a:rPr dirty="0"/>
              <a:t>Great job, Class </a:t>
            </a:r>
            <a:r>
              <a:rPr lang="en-US" dirty="0"/>
              <a:t>4</a:t>
            </a:r>
            <a:r>
              <a:rPr dirty="0"/>
              <a:t>! 👏👏👏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817D298B-5BAA-84F4-A83B-FB8659FE0452}"/>
              </a:ext>
            </a:extLst>
          </p:cNvPr>
          <p:cNvSpPr/>
          <p:nvPr/>
        </p:nvSpPr>
        <p:spPr>
          <a:xfrm>
            <a:off x="796413" y="1190194"/>
            <a:ext cx="10028903" cy="1567754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lang="en-US" sz="2400" dirty="0"/>
              <a:t>7 </a:t>
            </a:r>
            <a:r>
              <a:rPr sz="2400" dirty="0"/>
              <a:t>. </a:t>
            </a:r>
            <a:r>
              <a:rPr lang="en-US" sz="2400" dirty="0"/>
              <a:t>What should you consider while choosing healthy food?</a:t>
            </a:r>
          </a:p>
          <a:p>
            <a:pPr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lang="en-US" sz="2400" i="1" u="sng" dirty="0"/>
              <a:t>Ans</a:t>
            </a:r>
            <a:r>
              <a:rPr lang="en-US" sz="2400" dirty="0"/>
              <a:t> While choosing healthy food, we should see the food are fresh or not. We should see either they are safe or hygienic.</a:t>
            </a:r>
            <a:endParaRPr lang="en-US" sz="2400" i="1" u="sng" dirty="0"/>
          </a:p>
          <a:p>
            <a:pPr algn="l">
              <a:defRPr sz="2000" b="1">
                <a:solidFill>
                  <a:srgbClr val="155E75"/>
                </a:solidFill>
                <a:latin typeface="Comic Sans MS"/>
              </a:defRPr>
            </a:pPr>
            <a:endParaRPr sz="2800" dirty="0"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C0D31AA3-FCDC-0F99-D77D-6F0C979CA169}"/>
              </a:ext>
            </a:extLst>
          </p:cNvPr>
          <p:cNvSpPr/>
          <p:nvPr/>
        </p:nvSpPr>
        <p:spPr>
          <a:xfrm>
            <a:off x="796412" y="3259394"/>
            <a:ext cx="10028903" cy="1932038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lang="en-US" sz="2400" dirty="0"/>
              <a:t>8 </a:t>
            </a:r>
            <a:r>
              <a:rPr sz="2400" dirty="0"/>
              <a:t>.</a:t>
            </a:r>
            <a:r>
              <a:rPr lang="en-US" sz="2400" dirty="0"/>
              <a:t>How does poor nutrition affect our health?</a:t>
            </a:r>
          </a:p>
          <a:p>
            <a:pPr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lang="en-US" sz="2400" i="1" u="sng" dirty="0"/>
              <a:t>Ans</a:t>
            </a:r>
            <a:r>
              <a:rPr lang="en-US" sz="2400" dirty="0"/>
              <a:t> Poor nutrition affect our health by given ways:-</a:t>
            </a:r>
            <a:endParaRPr lang="en-US" sz="2400" i="1" u="sng" dirty="0"/>
          </a:p>
          <a:p>
            <a:pPr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lang="en-US" sz="2400" b="1" dirty="0"/>
              <a:t>1. It can cause weakness and tiredness.</a:t>
            </a:r>
            <a:endParaRPr lang="en-US" sz="2800" b="1" dirty="0"/>
          </a:p>
          <a:p>
            <a:pPr>
              <a:defRPr sz="2000" b="1">
                <a:solidFill>
                  <a:srgbClr val="155E75"/>
                </a:solidFill>
                <a:latin typeface="Comic Sans MS"/>
              </a:defRPr>
            </a:pPr>
            <a:r>
              <a:rPr lang="en-US" sz="2400" b="1" dirty="0"/>
              <a:t>2. It may cause diseases.</a:t>
            </a:r>
            <a:endParaRPr lang="en-US" sz="2800" i="1" u="sng" dirty="0"/>
          </a:p>
          <a:p>
            <a:pPr algn="l">
              <a:defRPr sz="2000" b="1">
                <a:solidFill>
                  <a:srgbClr val="155E75"/>
                </a:solidFill>
                <a:latin typeface="Comic Sans MS"/>
              </a:defRPr>
            </a:pP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717773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636</Words>
  <Application>Microsoft Office PowerPoint</Application>
  <PresentationFormat>Widescreen</PresentationFormat>
  <Paragraphs>118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2026-09-01T06:29:57Z</dcterms:modified>
  <cp:category/>
</cp:coreProperties>
</file>